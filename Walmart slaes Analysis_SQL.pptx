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al Unicode Bold" panose="020B0604020202020204" charset="-128"/>
      <p:regular r:id="rId20"/>
    </p:embeddedFont>
    <p:embeddedFont>
      <p:font typeface="Arbutus Slab" panose="020B0604020202020204" charset="0"/>
      <p:regular r:id="rId21"/>
    </p:embeddedFont>
    <p:embeddedFont>
      <p:font typeface="Barlow Bold" panose="020B0604020202020204" charset="0"/>
      <p:regular r:id="rId22"/>
    </p:embeddedFont>
    <p:embeddedFont>
      <p:font typeface="Century Gothic Paneuropean" panose="020B0604020202020204" charset="0"/>
      <p:regular r:id="rId23"/>
    </p:embeddedFont>
    <p:embeddedFont>
      <p:font typeface="Century Gothic Paneuropean Bold" panose="020B0604020202020204" charset="0"/>
      <p:regular r:id="rId24"/>
    </p:embeddedFont>
    <p:embeddedFont>
      <p:font typeface="DG Jory" panose="020B0604020202020204" charset="-78"/>
      <p:regular r:id="rId25"/>
    </p:embeddedFont>
    <p:embeddedFont>
      <p:font typeface="League Spartan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2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31A5B-D63E-46A0-A8EE-6D7F6167767F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94857-2920-40D3-8112-3E027743C3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56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94857-2920-40D3-8112-3E027743C30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369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drive/folders/1jDsGiRVDziNf6UPvdgEeIL-I_dE9Jv_R?usp=sharin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svg"/><Relationship Id="rId7" Type="http://schemas.openxmlformats.org/officeDocument/2006/relationships/image" Target="../media/image36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drive/folders/1jDsGiRVDziNf6UPvdgEeIL-I_dE9Jv_R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761471" y="-130201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61471" y="59261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680067" y="-230343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4678873" y="1840825"/>
            <a:ext cx="2320612" cy="1324859"/>
          </a:xfrm>
          <a:custGeom>
            <a:avLst/>
            <a:gdLst/>
            <a:ahLst/>
            <a:cxnLst/>
            <a:rect l="l" t="t" r="r" b="b"/>
            <a:pathLst>
              <a:path w="2320612" h="1324859">
                <a:moveTo>
                  <a:pt x="0" y="0"/>
                </a:moveTo>
                <a:lnTo>
                  <a:pt x="2320612" y="0"/>
                </a:lnTo>
                <a:lnTo>
                  <a:pt x="2320612" y="1324859"/>
                </a:lnTo>
                <a:lnTo>
                  <a:pt x="0" y="1324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479055" y="8045403"/>
            <a:ext cx="1212930" cy="1212930"/>
          </a:xfrm>
          <a:custGeom>
            <a:avLst/>
            <a:gdLst/>
            <a:ahLst/>
            <a:cxnLst/>
            <a:rect l="l" t="t" r="r" b="b"/>
            <a:pathLst>
              <a:path w="1212930" h="1212930">
                <a:moveTo>
                  <a:pt x="0" y="0"/>
                </a:moveTo>
                <a:lnTo>
                  <a:pt x="1212930" y="0"/>
                </a:lnTo>
                <a:lnTo>
                  <a:pt x="1212930" y="1212930"/>
                </a:lnTo>
                <a:lnTo>
                  <a:pt x="0" y="1212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581251" y="345467"/>
            <a:ext cx="1366465" cy="1366465"/>
          </a:xfrm>
          <a:custGeom>
            <a:avLst/>
            <a:gdLst/>
            <a:ahLst/>
            <a:cxnLst/>
            <a:rect l="l" t="t" r="r" b="b"/>
            <a:pathLst>
              <a:path w="1366465" h="1366465">
                <a:moveTo>
                  <a:pt x="0" y="0"/>
                </a:moveTo>
                <a:lnTo>
                  <a:pt x="1366465" y="0"/>
                </a:lnTo>
                <a:lnTo>
                  <a:pt x="1366465" y="1366466"/>
                </a:lnTo>
                <a:lnTo>
                  <a:pt x="0" y="13664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466350" y="5926167"/>
            <a:ext cx="5109638" cy="58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3"/>
              </a:lnSpc>
            </a:pPr>
            <a:r>
              <a:rPr lang="en-US" sz="385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 Mandeep Sharma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41804" y="8775675"/>
            <a:ext cx="6204392" cy="47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mandeep04sharma@gmail.com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28396" y="3061528"/>
            <a:ext cx="12785547" cy="2800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92"/>
              </a:lnSpc>
            </a:pPr>
            <a:r>
              <a:rPr lang="en-US" sz="9243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WALMART SALES ANALYSIS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85520" y="1831300"/>
            <a:ext cx="6204392" cy="47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Walmart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F28EC084-6FF9-9C3B-F1A5-9FA555A1D51F}"/>
              </a:ext>
            </a:extLst>
          </p:cNvPr>
          <p:cNvSpPr txBox="1"/>
          <p:nvPr/>
        </p:nvSpPr>
        <p:spPr>
          <a:xfrm>
            <a:off x="5918973" y="6562008"/>
            <a:ext cx="6204392" cy="435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24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  <a:hlinkClick r:id="rId9"/>
              </a:rPr>
              <a:t>Video Presentation Link</a:t>
            </a:r>
            <a:endParaRPr lang="en-US" sz="240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6021566" y="1558017"/>
            <a:ext cx="5994124" cy="1773322"/>
            <a:chOff x="0" y="0"/>
            <a:chExt cx="2747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63750" y="1700201"/>
            <a:ext cx="5994124" cy="1773322"/>
            <a:chOff x="0" y="0"/>
            <a:chExt cx="27474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884915" y="3710979"/>
            <a:ext cx="10518169" cy="494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Walmart operates in multiple cities with a diverse range of customers.</a:t>
            </a:r>
          </a:p>
          <a:p>
            <a:pPr algn="l">
              <a:lnSpc>
                <a:spcPts val="4381"/>
              </a:lnSpc>
            </a:pPr>
            <a:endParaRPr lang="en-US" sz="3129">
              <a:solidFill>
                <a:srgbClr val="FAE7B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dataset contains sales transactions, customer details, and product information.</a:t>
            </a:r>
          </a:p>
          <a:p>
            <a:pPr algn="l">
              <a:lnSpc>
                <a:spcPts val="4381"/>
              </a:lnSpc>
            </a:pPr>
            <a:endParaRPr lang="en-US" sz="3129">
              <a:solidFill>
                <a:srgbClr val="FAE7B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Objective: Use SQL to analyze trends, customer behavior, and business performance.</a:t>
            </a:r>
          </a:p>
          <a:p>
            <a:pPr algn="l">
              <a:lnSpc>
                <a:spcPts val="4381"/>
              </a:lnSpc>
            </a:pPr>
            <a:endParaRPr lang="en-US" sz="3129">
              <a:solidFill>
                <a:srgbClr val="FAE7B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30126" y="2070379"/>
            <a:ext cx="6027748" cy="74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7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4100171" y="3907727"/>
            <a:ext cx="10087659" cy="4949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Walmart aims to optimize sales strategies by analyzing historical data.</a:t>
            </a:r>
          </a:p>
          <a:p>
            <a:pPr algn="l">
              <a:lnSpc>
                <a:spcPts val="4381"/>
              </a:lnSpc>
            </a:pPr>
            <a:endParaRPr lang="en-US" sz="312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Focus on sales growth, customer segmentation, product profitability, and payment preferences.</a:t>
            </a:r>
          </a:p>
          <a:p>
            <a:pPr algn="l">
              <a:lnSpc>
                <a:spcPts val="4381"/>
              </a:lnSpc>
            </a:pPr>
            <a:endParaRPr lang="en-US" sz="312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Approach: Using SQL queries to extract insights from sales transactions.</a:t>
            </a:r>
          </a:p>
          <a:p>
            <a:pPr algn="l">
              <a:lnSpc>
                <a:spcPts val="4381"/>
              </a:lnSpc>
            </a:pPr>
            <a:endParaRPr lang="en-US" sz="3129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6021566" y="1558017"/>
            <a:ext cx="5994124" cy="1773322"/>
            <a:chOff x="0" y="0"/>
            <a:chExt cx="27474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616060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63750" y="1700201"/>
            <a:ext cx="5994124" cy="1773322"/>
            <a:chOff x="0" y="0"/>
            <a:chExt cx="2747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47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130126" y="2070379"/>
            <a:ext cx="6027748" cy="561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7"/>
              </a:lnSpc>
            </a:pPr>
            <a:r>
              <a:rPr lang="en-US" sz="373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Business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028700" y="981075"/>
            <a:ext cx="12140639" cy="891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WITH monthly_sales AS (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SELECT 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branch,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MONTH(date) AS month,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SUM(total) AS total_sales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FROM sales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GROUP BY branch, MONTH(date)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),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sales_growth AS (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SELECT 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m1.branch,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m1.month,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m1.total_sales AS current_month_sales,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m2.total_sales AS previous_month_sales,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((m1.total_sales - m2.total_sales) / m2.total_sales) * 100 AS growth_rate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FROM monthly_sales m1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LEFT JOIN monthly_sales m2 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ON m1.branch = m2.branch 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AND m1.month = m2.month + 1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WHERE m2.total_sales IS NOT NULL 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)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SELECT branch, month, growth_rate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FROM sales_growth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ORDER BY growth_rate DESC</a:t>
            </a:r>
          </a:p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LIMIT 1;</a:t>
            </a:r>
          </a:p>
          <a:p>
            <a:pPr algn="l">
              <a:lnSpc>
                <a:spcPts val="2701"/>
              </a:lnSpc>
            </a:pPr>
            <a:endParaRPr lang="en-US" sz="1929">
              <a:solidFill>
                <a:srgbClr val="FAE7B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5641775" y="1362075"/>
            <a:ext cx="10707744" cy="2065044"/>
            <a:chOff x="0" y="0"/>
            <a:chExt cx="4907882" cy="9465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07882" cy="946511"/>
            </a:xfrm>
            <a:custGeom>
              <a:avLst/>
              <a:gdLst/>
              <a:ahLst/>
              <a:cxnLst/>
              <a:rect l="l" t="t" r="r" b="b"/>
              <a:pathLst>
                <a:path w="4907882" h="946511">
                  <a:moveTo>
                    <a:pt x="4907882" y="0"/>
                  </a:moveTo>
                  <a:lnTo>
                    <a:pt x="0" y="0"/>
                  </a:lnTo>
                  <a:lnTo>
                    <a:pt x="0" y="758551"/>
                  </a:lnTo>
                  <a:lnTo>
                    <a:pt x="157480" y="758551"/>
                  </a:lnTo>
                  <a:lnTo>
                    <a:pt x="157480" y="946511"/>
                  </a:lnTo>
                  <a:lnTo>
                    <a:pt x="463550" y="758551"/>
                  </a:lnTo>
                  <a:lnTo>
                    <a:pt x="4907882" y="758551"/>
                  </a:lnTo>
                  <a:lnTo>
                    <a:pt x="4907882" y="0"/>
                  </a:lnTo>
                  <a:close/>
                </a:path>
              </a:pathLst>
            </a:custGeom>
            <a:solidFill>
              <a:srgbClr val="FAE7BC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907882" cy="765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50230" y="1362075"/>
            <a:ext cx="10934748" cy="2410251"/>
            <a:chOff x="0" y="0"/>
            <a:chExt cx="3687484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87485" cy="812800"/>
            </a:xfrm>
            <a:custGeom>
              <a:avLst/>
              <a:gdLst/>
              <a:ahLst/>
              <a:cxnLst/>
              <a:rect l="l" t="t" r="r" b="b"/>
              <a:pathLst>
                <a:path w="3687485" h="812800">
                  <a:moveTo>
                    <a:pt x="3687485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3687485" y="624840"/>
                  </a:lnTo>
                  <a:lnTo>
                    <a:pt x="36874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687484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950619" y="3427119"/>
            <a:ext cx="7398899" cy="1397740"/>
          </a:xfrm>
          <a:custGeom>
            <a:avLst/>
            <a:gdLst/>
            <a:ahLst/>
            <a:cxnLst/>
            <a:rect l="l" t="t" r="r" b="b"/>
            <a:pathLst>
              <a:path w="7398899" h="1397740">
                <a:moveTo>
                  <a:pt x="0" y="0"/>
                </a:moveTo>
                <a:lnTo>
                  <a:pt x="7398900" y="0"/>
                </a:lnTo>
                <a:lnTo>
                  <a:pt x="7398900" y="1397740"/>
                </a:lnTo>
                <a:lnTo>
                  <a:pt x="0" y="1397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438" b="-1243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48394" y="1597491"/>
            <a:ext cx="1109450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6627" lvl="1" indent="-478313" algn="ctr">
              <a:lnSpc>
                <a:spcPts val="5317"/>
              </a:lnSpc>
              <a:buAutoNum type="arabicPeriod"/>
            </a:pPr>
            <a:r>
              <a:rPr lang="en-US" sz="443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IDENTIFYING THE TOP BRANCH BY SALES GROWTH RATE</a:t>
            </a:r>
          </a:p>
        </p:txBody>
      </p:sp>
      <p:sp>
        <p:nvSpPr>
          <p:cNvPr id="13" name="Freeform 13"/>
          <p:cNvSpPr/>
          <p:nvPr/>
        </p:nvSpPr>
        <p:spPr>
          <a:xfrm flipH="1" flipV="1">
            <a:off x="15928361" y="-39161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3" y="0"/>
                </a:lnTo>
                <a:lnTo>
                  <a:pt x="7360133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8700" y="372279"/>
            <a:ext cx="539587" cy="539587"/>
          </a:xfrm>
          <a:custGeom>
            <a:avLst/>
            <a:gdLst/>
            <a:ahLst/>
            <a:cxnLst/>
            <a:rect l="l" t="t" r="r" b="b"/>
            <a:pathLst>
              <a:path w="539587" h="539587">
                <a:moveTo>
                  <a:pt x="0" y="0"/>
                </a:moveTo>
                <a:lnTo>
                  <a:pt x="539587" y="0"/>
                </a:lnTo>
                <a:lnTo>
                  <a:pt x="539587" y="539587"/>
                </a:lnTo>
                <a:lnTo>
                  <a:pt x="0" y="539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859148" y="5038003"/>
            <a:ext cx="7581842" cy="135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8"/>
              </a:lnSpc>
            </a:pPr>
            <a:r>
              <a:rPr lang="en-US" sz="2598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branch ‘A’ showed the highest </a:t>
            </a:r>
          </a:p>
          <a:p>
            <a:pPr algn="r">
              <a:lnSpc>
                <a:spcPts val="3638"/>
              </a:lnSpc>
            </a:pPr>
            <a:r>
              <a:rPr lang="en-US" sz="2598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sales growth in March</a:t>
            </a:r>
          </a:p>
          <a:p>
            <a:pPr algn="r">
              <a:lnSpc>
                <a:spcPts val="3638"/>
              </a:lnSpc>
            </a:pPr>
            <a:endParaRPr lang="en-US" sz="2598">
              <a:solidFill>
                <a:srgbClr val="FAE7B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1142" y="3375560"/>
            <a:ext cx="9428075" cy="5316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WITH ranked_products AS (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SELECT 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branch,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product_line,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SUM(total) AS total_profit,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RANK() OVER (PARTITION BY branch ORDER BY SUM(total) DESC) AS rnk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FROM sales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GROUP BY branch, product_line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)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SELECT branch, product_line, total_profit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FROM ranked_products</a:t>
            </a:r>
          </a:p>
          <a:p>
            <a:pPr algn="l">
              <a:lnSpc>
                <a:spcPts val="3057"/>
              </a:lnSpc>
            </a:pPr>
            <a:r>
              <a:rPr lang="en-US" sz="218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WHERE rnk = 1;</a:t>
            </a:r>
          </a:p>
          <a:p>
            <a:pPr algn="l">
              <a:lnSpc>
                <a:spcPts val="3057"/>
              </a:lnSpc>
            </a:pPr>
            <a:endParaRPr lang="en-US" sz="2184">
              <a:solidFill>
                <a:srgbClr val="FAE7B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-1863057" y="8692181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0"/>
                </a:moveTo>
                <a:lnTo>
                  <a:pt x="0" y="0"/>
                </a:lnTo>
                <a:lnTo>
                  <a:pt x="0" y="6664267"/>
                </a:lnTo>
                <a:lnTo>
                  <a:pt x="7360134" y="6664267"/>
                </a:lnTo>
                <a:lnTo>
                  <a:pt x="73601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631498" y="767939"/>
            <a:ext cx="11257178" cy="2351441"/>
            <a:chOff x="0" y="0"/>
            <a:chExt cx="3796216" cy="7929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96216" cy="792968"/>
            </a:xfrm>
            <a:custGeom>
              <a:avLst/>
              <a:gdLst/>
              <a:ahLst/>
              <a:cxnLst/>
              <a:rect l="l" t="t" r="r" b="b"/>
              <a:pathLst>
                <a:path w="3796216" h="792968">
                  <a:moveTo>
                    <a:pt x="3796216" y="0"/>
                  </a:moveTo>
                  <a:lnTo>
                    <a:pt x="0" y="0"/>
                  </a:lnTo>
                  <a:lnTo>
                    <a:pt x="0" y="605008"/>
                  </a:lnTo>
                  <a:lnTo>
                    <a:pt x="157480" y="605008"/>
                  </a:lnTo>
                  <a:lnTo>
                    <a:pt x="157480" y="792968"/>
                  </a:lnTo>
                  <a:lnTo>
                    <a:pt x="463550" y="605008"/>
                  </a:lnTo>
                  <a:lnTo>
                    <a:pt x="3796216" y="605008"/>
                  </a:lnTo>
                  <a:lnTo>
                    <a:pt x="379621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796216" cy="64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 flipV="1">
            <a:off x="14792179" y="-179359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3" y="0"/>
                </a:lnTo>
                <a:lnTo>
                  <a:pt x="7360133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380743" y="2779757"/>
            <a:ext cx="6709665" cy="2090919"/>
          </a:xfrm>
          <a:custGeom>
            <a:avLst/>
            <a:gdLst/>
            <a:ahLst/>
            <a:cxnLst/>
            <a:rect l="l" t="t" r="r" b="b"/>
            <a:pathLst>
              <a:path w="6709665" h="2090919">
                <a:moveTo>
                  <a:pt x="0" y="0"/>
                </a:moveTo>
                <a:lnTo>
                  <a:pt x="6709665" y="0"/>
                </a:lnTo>
                <a:lnTo>
                  <a:pt x="6709665" y="2090919"/>
                </a:lnTo>
                <a:lnTo>
                  <a:pt x="0" y="2090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31498" y="1019175"/>
            <a:ext cx="1109450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4430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2. Most Profitable Product Line Per Branch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408" y="4348762"/>
            <a:ext cx="8325724" cy="60060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7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63057" y="8692181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0"/>
                </a:moveTo>
                <a:lnTo>
                  <a:pt x="0" y="0"/>
                </a:lnTo>
                <a:lnTo>
                  <a:pt x="0" y="6664267"/>
                </a:lnTo>
                <a:lnTo>
                  <a:pt x="7360134" y="6664267"/>
                </a:lnTo>
                <a:lnTo>
                  <a:pt x="736013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922098" y="1028700"/>
            <a:ext cx="10938051" cy="1773322"/>
            <a:chOff x="0" y="0"/>
            <a:chExt cx="501344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13443" cy="812800"/>
            </a:xfrm>
            <a:custGeom>
              <a:avLst/>
              <a:gdLst/>
              <a:ahLst/>
              <a:cxnLst/>
              <a:rect l="l" t="t" r="r" b="b"/>
              <a:pathLst>
                <a:path w="5013443" h="812800">
                  <a:moveTo>
                    <a:pt x="501344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013443" y="624840"/>
                  </a:lnTo>
                  <a:lnTo>
                    <a:pt x="5013443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13443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11377" y="767939"/>
            <a:ext cx="10934748" cy="2351441"/>
            <a:chOff x="0" y="0"/>
            <a:chExt cx="3687484" cy="7929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87485" cy="792968"/>
            </a:xfrm>
            <a:custGeom>
              <a:avLst/>
              <a:gdLst/>
              <a:ahLst/>
              <a:cxnLst/>
              <a:rect l="l" t="t" r="r" b="b"/>
              <a:pathLst>
                <a:path w="3687485" h="792968">
                  <a:moveTo>
                    <a:pt x="3687485" y="0"/>
                  </a:moveTo>
                  <a:lnTo>
                    <a:pt x="0" y="0"/>
                  </a:lnTo>
                  <a:lnTo>
                    <a:pt x="0" y="605008"/>
                  </a:lnTo>
                  <a:lnTo>
                    <a:pt x="157480" y="605008"/>
                  </a:lnTo>
                  <a:lnTo>
                    <a:pt x="157480" y="792968"/>
                  </a:lnTo>
                  <a:lnTo>
                    <a:pt x="463550" y="605008"/>
                  </a:lnTo>
                  <a:lnTo>
                    <a:pt x="3687485" y="605008"/>
                  </a:lnTo>
                  <a:lnTo>
                    <a:pt x="36874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87484" cy="64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 flipV="1">
            <a:off x="14792179" y="-179359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3" y="0"/>
                </a:lnTo>
                <a:lnTo>
                  <a:pt x="7360133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33199" y="3004689"/>
            <a:ext cx="6194694" cy="6253611"/>
          </a:xfrm>
          <a:custGeom>
            <a:avLst/>
            <a:gdLst/>
            <a:ahLst/>
            <a:cxnLst/>
            <a:rect l="l" t="t" r="r" b="b"/>
            <a:pathLst>
              <a:path w="6194694" h="6253611">
                <a:moveTo>
                  <a:pt x="0" y="0"/>
                </a:moveTo>
                <a:lnTo>
                  <a:pt x="6194695" y="0"/>
                </a:lnTo>
                <a:lnTo>
                  <a:pt x="6194695" y="6253611"/>
                </a:lnTo>
                <a:lnTo>
                  <a:pt x="0" y="6253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52668" y="3189220"/>
            <a:ext cx="9428075" cy="3949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SELECT </a:t>
            </a:r>
          </a:p>
          <a:p>
            <a:pPr algn="l"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</a:t>
            </a:r>
            <a:r>
              <a:rPr lang="en-US" sz="2213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customer_id</a:t>
            </a: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</a:t>
            </a:r>
          </a:p>
          <a:p>
            <a:pPr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AVG(total) AS </a:t>
            </a:r>
            <a:r>
              <a:rPr lang="en-US" sz="2213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avg_spending</a:t>
            </a: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</a:t>
            </a:r>
          </a:p>
          <a:p>
            <a:pPr algn="l"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CASE </a:t>
            </a:r>
          </a:p>
          <a:p>
            <a:pPr algn="l"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WHEN AVG(total) &gt; 325 THEN 'High Spender'</a:t>
            </a:r>
          </a:p>
          <a:p>
            <a:pPr algn="l"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WHEN AVG(total) BETWEEN 200 AND 325 THEN 'Medium Spender'</a:t>
            </a:r>
          </a:p>
          <a:p>
            <a:pPr algn="l"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ELSE 'Low Spender'</a:t>
            </a:r>
          </a:p>
          <a:p>
            <a:pPr algn="l"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END AS </a:t>
            </a:r>
            <a:r>
              <a:rPr lang="en-US" sz="2213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spending_category</a:t>
            </a:r>
            <a:endParaRPr lang="en-US" sz="2213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FROM sales</a:t>
            </a:r>
          </a:p>
          <a:p>
            <a:pPr algn="l">
              <a:lnSpc>
                <a:spcPts val="3099"/>
              </a:lnSpc>
            </a:pP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GROUP BY </a:t>
            </a:r>
            <a:r>
              <a:rPr lang="en-US" sz="2213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customer_id</a:t>
            </a:r>
            <a:r>
              <a:rPr lang="en-US" sz="2213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31498" y="1019175"/>
            <a:ext cx="1109450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443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3. Customer Segmentation Based on Spending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7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5486" y="4517384"/>
            <a:ext cx="8654808" cy="3173352"/>
            <a:chOff x="0" y="0"/>
            <a:chExt cx="2279456" cy="8357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9456" cy="835780"/>
            </a:xfrm>
            <a:custGeom>
              <a:avLst/>
              <a:gdLst/>
              <a:ahLst/>
              <a:cxnLst/>
              <a:rect l="l" t="t" r="r" b="b"/>
              <a:pathLst>
                <a:path w="2279456" h="835780">
                  <a:moveTo>
                    <a:pt x="0" y="0"/>
                  </a:moveTo>
                  <a:lnTo>
                    <a:pt x="2279456" y="0"/>
                  </a:lnTo>
                  <a:lnTo>
                    <a:pt x="2279456" y="835780"/>
                  </a:lnTo>
                  <a:lnTo>
                    <a:pt x="0" y="8357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79456" cy="873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71345" y="4704192"/>
            <a:ext cx="8751406" cy="311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SELECT invoice_id, product_line, total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FROM sales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WHERE total &gt; (SELECT AVG(total) + 2 * STDDEV(total) FROM sales)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OR total &lt; (SELECT AVG(total) - 2 * STDDEV(total) FROM sales);</a:t>
            </a:r>
          </a:p>
          <a:p>
            <a:pPr algn="l">
              <a:lnSpc>
                <a:spcPts val="3548"/>
              </a:lnSpc>
            </a:pPr>
            <a:endParaRPr lang="en-US" sz="2534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4373279" y="4943528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5176024" y="-116963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811573" y="665057"/>
            <a:ext cx="10938051" cy="1773322"/>
            <a:chOff x="0" y="0"/>
            <a:chExt cx="501344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13443" cy="812800"/>
            </a:xfrm>
            <a:custGeom>
              <a:avLst/>
              <a:gdLst/>
              <a:ahLst/>
              <a:cxnLst/>
              <a:rect l="l" t="t" r="r" b="b"/>
              <a:pathLst>
                <a:path w="5013443" h="812800">
                  <a:moveTo>
                    <a:pt x="501344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013443" y="624840"/>
                  </a:lnTo>
                  <a:lnTo>
                    <a:pt x="5013443" y="0"/>
                  </a:lnTo>
                  <a:close/>
                </a:path>
              </a:pathLst>
            </a:custGeom>
            <a:solidFill>
              <a:srgbClr val="FAE7BC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13443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00851" y="404296"/>
            <a:ext cx="10934748" cy="2351441"/>
            <a:chOff x="0" y="0"/>
            <a:chExt cx="3687484" cy="7929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87485" cy="792968"/>
            </a:xfrm>
            <a:custGeom>
              <a:avLst/>
              <a:gdLst/>
              <a:ahLst/>
              <a:cxnLst/>
              <a:rect l="l" t="t" r="r" b="b"/>
              <a:pathLst>
                <a:path w="3687485" h="792968">
                  <a:moveTo>
                    <a:pt x="3687485" y="0"/>
                  </a:moveTo>
                  <a:lnTo>
                    <a:pt x="0" y="0"/>
                  </a:lnTo>
                  <a:lnTo>
                    <a:pt x="0" y="605008"/>
                  </a:lnTo>
                  <a:lnTo>
                    <a:pt x="157480" y="605008"/>
                  </a:lnTo>
                  <a:lnTo>
                    <a:pt x="157480" y="792968"/>
                  </a:lnTo>
                  <a:lnTo>
                    <a:pt x="463550" y="605008"/>
                  </a:lnTo>
                  <a:lnTo>
                    <a:pt x="3687485" y="605008"/>
                  </a:lnTo>
                  <a:lnTo>
                    <a:pt x="36874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87484" cy="64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H="1" flipV="1">
            <a:off x="-4759282" y="-214688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3" y="0"/>
                </a:lnTo>
                <a:lnTo>
                  <a:pt x="7360133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1169958" y="4701990"/>
            <a:ext cx="6837782" cy="3168847"/>
          </a:xfrm>
          <a:custGeom>
            <a:avLst/>
            <a:gdLst/>
            <a:ahLst/>
            <a:cxnLst/>
            <a:rect l="l" t="t" r="r" b="b"/>
            <a:pathLst>
              <a:path w="6837782" h="3168847">
                <a:moveTo>
                  <a:pt x="0" y="0"/>
                </a:moveTo>
                <a:lnTo>
                  <a:pt x="6837782" y="0"/>
                </a:lnTo>
                <a:lnTo>
                  <a:pt x="6837782" y="3168846"/>
                </a:lnTo>
                <a:lnTo>
                  <a:pt x="0" y="3168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4" t="-3702" r="-786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1154608" y="4640265"/>
            <a:ext cx="6868482" cy="3230571"/>
            <a:chOff x="0" y="0"/>
            <a:chExt cx="1808983" cy="8508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08983" cy="850850"/>
            </a:xfrm>
            <a:custGeom>
              <a:avLst/>
              <a:gdLst/>
              <a:ahLst/>
              <a:cxnLst/>
              <a:rect l="l" t="t" r="r" b="b"/>
              <a:pathLst>
                <a:path w="1808983" h="850850">
                  <a:moveTo>
                    <a:pt x="0" y="0"/>
                  </a:moveTo>
                  <a:lnTo>
                    <a:pt x="1808983" y="0"/>
                  </a:lnTo>
                  <a:lnTo>
                    <a:pt x="1808983" y="850850"/>
                  </a:lnTo>
                  <a:lnTo>
                    <a:pt x="0" y="850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808983" cy="888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813742" y="727354"/>
            <a:ext cx="11094505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443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4. ANOMALY DETECTION IN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2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72494" y="3520582"/>
            <a:ext cx="7983716" cy="490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WITH payment_rank AS (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SELECT city, payment, COUNT(*) AS payment_count,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       RANK() OVER (PARTITION BY city ORDER BY COUNT(*) DESC) AS rnk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FROM sales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GROUP BY city, payment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)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SELECT city, payment, payment_count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FROM payment_rank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FAE7B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WHERE rnk = 1;</a:t>
            </a:r>
          </a:p>
        </p:txBody>
      </p:sp>
      <p:sp>
        <p:nvSpPr>
          <p:cNvPr id="3" name="Freeform 3"/>
          <p:cNvSpPr/>
          <p:nvPr/>
        </p:nvSpPr>
        <p:spPr>
          <a:xfrm>
            <a:off x="-4373279" y="4943528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236350" y="3344253"/>
            <a:ext cx="7764287" cy="5248192"/>
            <a:chOff x="0" y="0"/>
            <a:chExt cx="2044915" cy="13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4915" cy="1382240"/>
            </a:xfrm>
            <a:custGeom>
              <a:avLst/>
              <a:gdLst/>
              <a:ahLst/>
              <a:cxnLst/>
              <a:rect l="l" t="t" r="r" b="b"/>
              <a:pathLst>
                <a:path w="2044915" h="1382240">
                  <a:moveTo>
                    <a:pt x="0" y="0"/>
                  </a:moveTo>
                  <a:lnTo>
                    <a:pt x="2044915" y="0"/>
                  </a:lnTo>
                  <a:lnTo>
                    <a:pt x="2044915" y="1382240"/>
                  </a:lnTo>
                  <a:lnTo>
                    <a:pt x="0" y="13822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44915" cy="1420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 flipV="1">
            <a:off x="15176024" y="-116963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811573" y="665057"/>
            <a:ext cx="10938051" cy="1773322"/>
            <a:chOff x="0" y="0"/>
            <a:chExt cx="501344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13443" cy="812800"/>
            </a:xfrm>
            <a:custGeom>
              <a:avLst/>
              <a:gdLst/>
              <a:ahLst/>
              <a:cxnLst/>
              <a:rect l="l" t="t" r="r" b="b"/>
              <a:pathLst>
                <a:path w="5013443" h="812800">
                  <a:moveTo>
                    <a:pt x="501344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013443" y="624840"/>
                  </a:lnTo>
                  <a:lnTo>
                    <a:pt x="5013443" y="0"/>
                  </a:lnTo>
                  <a:close/>
                </a:path>
              </a:pathLst>
            </a:custGeom>
            <a:solidFill>
              <a:srgbClr val="333232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13443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00851" y="404296"/>
            <a:ext cx="10934748" cy="2351441"/>
            <a:chOff x="0" y="0"/>
            <a:chExt cx="3687484" cy="7929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87485" cy="792968"/>
            </a:xfrm>
            <a:custGeom>
              <a:avLst/>
              <a:gdLst/>
              <a:ahLst/>
              <a:cxnLst/>
              <a:rect l="l" t="t" r="r" b="b"/>
              <a:pathLst>
                <a:path w="3687485" h="792968">
                  <a:moveTo>
                    <a:pt x="3687485" y="0"/>
                  </a:moveTo>
                  <a:lnTo>
                    <a:pt x="0" y="0"/>
                  </a:lnTo>
                  <a:lnTo>
                    <a:pt x="0" y="605008"/>
                  </a:lnTo>
                  <a:lnTo>
                    <a:pt x="157480" y="605008"/>
                  </a:lnTo>
                  <a:lnTo>
                    <a:pt x="157480" y="792968"/>
                  </a:lnTo>
                  <a:lnTo>
                    <a:pt x="463550" y="605008"/>
                  </a:lnTo>
                  <a:lnTo>
                    <a:pt x="3687485" y="605008"/>
                  </a:lnTo>
                  <a:lnTo>
                    <a:pt x="36874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87484" cy="64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H="1" flipV="1">
            <a:off x="-4759282" y="-214688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3" y="0"/>
                </a:lnTo>
                <a:lnTo>
                  <a:pt x="7360133" y="666426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5" name="Group 15"/>
          <p:cNvGrpSpPr/>
          <p:nvPr/>
        </p:nvGrpSpPr>
        <p:grpSpPr>
          <a:xfrm>
            <a:off x="10356210" y="3233406"/>
            <a:ext cx="6104692" cy="1406859"/>
            <a:chOff x="0" y="0"/>
            <a:chExt cx="1607820" cy="3705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07820" cy="370531"/>
            </a:xfrm>
            <a:custGeom>
              <a:avLst/>
              <a:gdLst/>
              <a:ahLst/>
              <a:cxnLst/>
              <a:rect l="l" t="t" r="r" b="b"/>
              <a:pathLst>
                <a:path w="1607820" h="370531">
                  <a:moveTo>
                    <a:pt x="0" y="0"/>
                  </a:moveTo>
                  <a:lnTo>
                    <a:pt x="1607820" y="0"/>
                  </a:lnTo>
                  <a:lnTo>
                    <a:pt x="1607820" y="370531"/>
                  </a:lnTo>
                  <a:lnTo>
                    <a:pt x="0" y="3705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607820" cy="418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AE7BC">
                      <a:alpha val="49804"/>
                    </a:srgbClr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Ewallet is most popular payment method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0463753" y="5116515"/>
            <a:ext cx="5997149" cy="2190576"/>
          </a:xfrm>
          <a:custGeom>
            <a:avLst/>
            <a:gdLst/>
            <a:ahLst/>
            <a:cxnLst/>
            <a:rect l="l" t="t" r="r" b="b"/>
            <a:pathLst>
              <a:path w="5997149" h="2190576">
                <a:moveTo>
                  <a:pt x="0" y="0"/>
                </a:moveTo>
                <a:lnTo>
                  <a:pt x="5997149" y="0"/>
                </a:lnTo>
                <a:lnTo>
                  <a:pt x="5997149" y="2190575"/>
                </a:lnTo>
                <a:lnTo>
                  <a:pt x="0" y="2190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813742" y="727354"/>
            <a:ext cx="1109450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4430" b="1">
                <a:solidFill>
                  <a:srgbClr val="FAE7B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5. MOST POPULAR PAYMENT METHOD BY CITY</a:t>
            </a:r>
          </a:p>
        </p:txBody>
      </p:sp>
      <p:sp>
        <p:nvSpPr>
          <p:cNvPr id="20" name="Freeform 20"/>
          <p:cNvSpPr/>
          <p:nvPr/>
        </p:nvSpPr>
        <p:spPr>
          <a:xfrm>
            <a:off x="13638453" y="467085"/>
            <a:ext cx="539587" cy="539587"/>
          </a:xfrm>
          <a:custGeom>
            <a:avLst/>
            <a:gdLst/>
            <a:ahLst/>
            <a:cxnLst/>
            <a:rect l="l" t="t" r="r" b="b"/>
            <a:pathLst>
              <a:path w="539587" h="539587">
                <a:moveTo>
                  <a:pt x="0" y="0"/>
                </a:moveTo>
                <a:lnTo>
                  <a:pt x="539587" y="0"/>
                </a:lnTo>
                <a:lnTo>
                  <a:pt x="539587" y="539587"/>
                </a:lnTo>
                <a:lnTo>
                  <a:pt x="0" y="5395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7289" y="3006995"/>
            <a:ext cx="6965889" cy="3366390"/>
            <a:chOff x="0" y="0"/>
            <a:chExt cx="1834637" cy="8866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34637" cy="886621"/>
            </a:xfrm>
            <a:custGeom>
              <a:avLst/>
              <a:gdLst/>
              <a:ahLst/>
              <a:cxnLst/>
              <a:rect l="l" t="t" r="r" b="b"/>
              <a:pathLst>
                <a:path w="1834637" h="886621">
                  <a:moveTo>
                    <a:pt x="0" y="0"/>
                  </a:moveTo>
                  <a:lnTo>
                    <a:pt x="1834637" y="0"/>
                  </a:lnTo>
                  <a:lnTo>
                    <a:pt x="1834637" y="886621"/>
                  </a:lnTo>
                  <a:lnTo>
                    <a:pt x="0" y="8866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834637" cy="934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65928" y="3096638"/>
            <a:ext cx="7983716" cy="311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SELECT </a:t>
            </a:r>
          </a:p>
          <a:p>
            <a:pPr algn="just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DATE_FORMAT(date, '%Y-%m') AS month, </a:t>
            </a:r>
          </a:p>
          <a:p>
            <a:pPr algn="just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gender, </a:t>
            </a:r>
          </a:p>
          <a:p>
            <a:pPr algn="just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SUM(total) AS total_sales</a:t>
            </a:r>
          </a:p>
          <a:p>
            <a:pPr algn="just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FROM sales</a:t>
            </a:r>
          </a:p>
          <a:p>
            <a:pPr algn="just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GROUP BY month, gender</a:t>
            </a:r>
          </a:p>
          <a:p>
            <a:pPr algn="just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ORDER BY month, gender;</a:t>
            </a:r>
          </a:p>
        </p:txBody>
      </p:sp>
      <p:sp>
        <p:nvSpPr>
          <p:cNvPr id="6" name="Freeform 6"/>
          <p:cNvSpPr/>
          <p:nvPr/>
        </p:nvSpPr>
        <p:spPr>
          <a:xfrm>
            <a:off x="-4941370" y="469019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5176024" y="-116963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811573" y="665057"/>
            <a:ext cx="10938051" cy="1773322"/>
            <a:chOff x="0" y="0"/>
            <a:chExt cx="501344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13443" cy="812800"/>
            </a:xfrm>
            <a:custGeom>
              <a:avLst/>
              <a:gdLst/>
              <a:ahLst/>
              <a:cxnLst/>
              <a:rect l="l" t="t" r="r" b="b"/>
              <a:pathLst>
                <a:path w="5013443" h="812800">
                  <a:moveTo>
                    <a:pt x="501344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013443" y="624840"/>
                  </a:lnTo>
                  <a:lnTo>
                    <a:pt x="5013443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13443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00851" y="404296"/>
            <a:ext cx="11144505" cy="2351441"/>
            <a:chOff x="0" y="0"/>
            <a:chExt cx="3758220" cy="7929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58220" cy="792968"/>
            </a:xfrm>
            <a:custGeom>
              <a:avLst/>
              <a:gdLst/>
              <a:ahLst/>
              <a:cxnLst/>
              <a:rect l="l" t="t" r="r" b="b"/>
              <a:pathLst>
                <a:path w="3758220" h="792968">
                  <a:moveTo>
                    <a:pt x="3758220" y="0"/>
                  </a:moveTo>
                  <a:lnTo>
                    <a:pt x="0" y="0"/>
                  </a:lnTo>
                  <a:lnTo>
                    <a:pt x="0" y="605008"/>
                  </a:lnTo>
                  <a:lnTo>
                    <a:pt x="157480" y="605008"/>
                  </a:lnTo>
                  <a:lnTo>
                    <a:pt x="157480" y="792968"/>
                  </a:lnTo>
                  <a:lnTo>
                    <a:pt x="463550" y="605008"/>
                  </a:lnTo>
                  <a:lnTo>
                    <a:pt x="3758220" y="605008"/>
                  </a:lnTo>
                  <a:lnTo>
                    <a:pt x="37582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3758220" cy="650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H="1" flipV="1">
            <a:off x="-5322845" y="-211617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TextBox 15"/>
          <p:cNvSpPr txBox="1"/>
          <p:nvPr/>
        </p:nvSpPr>
        <p:spPr>
          <a:xfrm>
            <a:off x="2813742" y="727354"/>
            <a:ext cx="11094505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443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6.  Monthly Sales Distribution by Gender</a:t>
            </a:r>
          </a:p>
        </p:txBody>
      </p:sp>
      <p:sp>
        <p:nvSpPr>
          <p:cNvPr id="16" name="Freeform 16"/>
          <p:cNvSpPr/>
          <p:nvPr/>
        </p:nvSpPr>
        <p:spPr>
          <a:xfrm>
            <a:off x="2804217" y="835467"/>
            <a:ext cx="539587" cy="539587"/>
          </a:xfrm>
          <a:custGeom>
            <a:avLst/>
            <a:gdLst/>
            <a:ahLst/>
            <a:cxnLst/>
            <a:rect l="l" t="t" r="r" b="b"/>
            <a:pathLst>
              <a:path w="539587" h="539587">
                <a:moveTo>
                  <a:pt x="0" y="0"/>
                </a:moveTo>
                <a:lnTo>
                  <a:pt x="539586" y="0"/>
                </a:lnTo>
                <a:lnTo>
                  <a:pt x="539586" y="539587"/>
                </a:lnTo>
                <a:lnTo>
                  <a:pt x="0" y="53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936850" y="6463998"/>
            <a:ext cx="5047278" cy="3470926"/>
          </a:xfrm>
          <a:custGeom>
            <a:avLst/>
            <a:gdLst/>
            <a:ahLst/>
            <a:cxnLst/>
            <a:rect l="l" t="t" r="r" b="b"/>
            <a:pathLst>
              <a:path w="5047278" h="3470926">
                <a:moveTo>
                  <a:pt x="0" y="0"/>
                </a:moveTo>
                <a:lnTo>
                  <a:pt x="5047278" y="0"/>
                </a:lnTo>
                <a:lnTo>
                  <a:pt x="5047278" y="3470926"/>
                </a:lnTo>
                <a:lnTo>
                  <a:pt x="0" y="3470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2" b="-152"/>
            </a:stretch>
          </a:blipFill>
        </p:spPr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3974" y="2280378"/>
            <a:ext cx="8719404" cy="82494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49347" y="2995664"/>
            <a:ext cx="7125761" cy="3596698"/>
            <a:chOff x="0" y="0"/>
            <a:chExt cx="1876744" cy="9472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76744" cy="947278"/>
            </a:xfrm>
            <a:custGeom>
              <a:avLst/>
              <a:gdLst/>
              <a:ahLst/>
              <a:cxnLst/>
              <a:rect l="l" t="t" r="r" b="b"/>
              <a:pathLst>
                <a:path w="1876744" h="947278">
                  <a:moveTo>
                    <a:pt x="0" y="0"/>
                  </a:moveTo>
                  <a:lnTo>
                    <a:pt x="1876744" y="0"/>
                  </a:lnTo>
                  <a:lnTo>
                    <a:pt x="1876744" y="947278"/>
                  </a:lnTo>
                  <a:lnTo>
                    <a:pt x="0" y="9472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76744" cy="985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65928" y="3096638"/>
            <a:ext cx="7983716" cy="311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SELECT 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    customer_type, 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    product_line, 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    SUM(total) AS total_sales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FROM sales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GROUP BY customer_type, product_line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ORDER BY total_sales DESC;</a:t>
            </a:r>
          </a:p>
        </p:txBody>
      </p:sp>
      <p:sp>
        <p:nvSpPr>
          <p:cNvPr id="6" name="Freeform 6"/>
          <p:cNvSpPr/>
          <p:nvPr/>
        </p:nvSpPr>
        <p:spPr>
          <a:xfrm>
            <a:off x="-5322845" y="467885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5176024" y="-116963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811573" y="665057"/>
            <a:ext cx="10938051" cy="1773322"/>
            <a:chOff x="0" y="0"/>
            <a:chExt cx="501344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13443" cy="812800"/>
            </a:xfrm>
            <a:custGeom>
              <a:avLst/>
              <a:gdLst/>
              <a:ahLst/>
              <a:cxnLst/>
              <a:rect l="l" t="t" r="r" b="b"/>
              <a:pathLst>
                <a:path w="5013443" h="812800">
                  <a:moveTo>
                    <a:pt x="501344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013443" y="624840"/>
                  </a:lnTo>
                  <a:lnTo>
                    <a:pt x="5013443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13443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920096" y="383741"/>
            <a:ext cx="11091589" cy="2126460"/>
            <a:chOff x="0" y="0"/>
            <a:chExt cx="5083817" cy="9746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3817" cy="974660"/>
            </a:xfrm>
            <a:custGeom>
              <a:avLst/>
              <a:gdLst/>
              <a:ahLst/>
              <a:cxnLst/>
              <a:rect l="l" t="t" r="r" b="b"/>
              <a:pathLst>
                <a:path w="5083817" h="974660">
                  <a:moveTo>
                    <a:pt x="5083817" y="0"/>
                  </a:moveTo>
                  <a:lnTo>
                    <a:pt x="0" y="0"/>
                  </a:lnTo>
                  <a:lnTo>
                    <a:pt x="0" y="786700"/>
                  </a:lnTo>
                  <a:lnTo>
                    <a:pt x="157480" y="786700"/>
                  </a:lnTo>
                  <a:lnTo>
                    <a:pt x="157480" y="974660"/>
                  </a:lnTo>
                  <a:lnTo>
                    <a:pt x="463550" y="786700"/>
                  </a:lnTo>
                  <a:lnTo>
                    <a:pt x="5083817" y="786700"/>
                  </a:lnTo>
                  <a:lnTo>
                    <a:pt x="5083817" y="0"/>
                  </a:lnTo>
                  <a:close/>
                </a:path>
              </a:pathLst>
            </a:custGeom>
            <a:solidFill>
              <a:srgbClr val="FAE7BC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083817" cy="822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605119" y="496419"/>
            <a:ext cx="11144505" cy="2351441"/>
            <a:chOff x="0" y="0"/>
            <a:chExt cx="3758220" cy="7929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58220" cy="792968"/>
            </a:xfrm>
            <a:custGeom>
              <a:avLst/>
              <a:gdLst/>
              <a:ahLst/>
              <a:cxnLst/>
              <a:rect l="l" t="t" r="r" b="b"/>
              <a:pathLst>
                <a:path w="3758220" h="792968">
                  <a:moveTo>
                    <a:pt x="3758220" y="0"/>
                  </a:moveTo>
                  <a:lnTo>
                    <a:pt x="0" y="0"/>
                  </a:lnTo>
                  <a:lnTo>
                    <a:pt x="0" y="605008"/>
                  </a:lnTo>
                  <a:lnTo>
                    <a:pt x="157480" y="605008"/>
                  </a:lnTo>
                  <a:lnTo>
                    <a:pt x="157480" y="792968"/>
                  </a:lnTo>
                  <a:lnTo>
                    <a:pt x="463550" y="605008"/>
                  </a:lnTo>
                  <a:lnTo>
                    <a:pt x="3758220" y="605008"/>
                  </a:lnTo>
                  <a:lnTo>
                    <a:pt x="37582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758220" cy="64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 flipV="1">
            <a:off x="-5322845" y="-211617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14168515" y="496419"/>
            <a:ext cx="539587" cy="539587"/>
          </a:xfrm>
          <a:custGeom>
            <a:avLst/>
            <a:gdLst/>
            <a:ahLst/>
            <a:cxnLst/>
            <a:rect l="l" t="t" r="r" b="b"/>
            <a:pathLst>
              <a:path w="539587" h="539587">
                <a:moveTo>
                  <a:pt x="0" y="0"/>
                </a:moveTo>
                <a:lnTo>
                  <a:pt x="539587" y="0"/>
                </a:lnTo>
                <a:lnTo>
                  <a:pt x="539587" y="539586"/>
                </a:lnTo>
                <a:lnTo>
                  <a:pt x="0" y="53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349818" y="2847859"/>
            <a:ext cx="7603053" cy="5955893"/>
          </a:xfrm>
          <a:custGeom>
            <a:avLst/>
            <a:gdLst/>
            <a:ahLst/>
            <a:cxnLst/>
            <a:rect l="l" t="t" r="r" b="b"/>
            <a:pathLst>
              <a:path w="7603053" h="5955893">
                <a:moveTo>
                  <a:pt x="0" y="0"/>
                </a:moveTo>
                <a:lnTo>
                  <a:pt x="7603053" y="0"/>
                </a:lnTo>
                <a:lnTo>
                  <a:pt x="7603053" y="5955893"/>
                </a:lnTo>
                <a:lnTo>
                  <a:pt x="0" y="5955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744898" y="873059"/>
            <a:ext cx="11094505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443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7.BEST PRODUCT LINE BY CUSTOMER 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E7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3547" y="3191844"/>
            <a:ext cx="8277297" cy="2644761"/>
            <a:chOff x="0" y="0"/>
            <a:chExt cx="2180029" cy="6965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0029" cy="696563"/>
            </a:xfrm>
            <a:custGeom>
              <a:avLst/>
              <a:gdLst/>
              <a:ahLst/>
              <a:cxnLst/>
              <a:rect l="l" t="t" r="r" b="b"/>
              <a:pathLst>
                <a:path w="2180029" h="696563">
                  <a:moveTo>
                    <a:pt x="0" y="0"/>
                  </a:moveTo>
                  <a:lnTo>
                    <a:pt x="2180029" y="0"/>
                  </a:lnTo>
                  <a:lnTo>
                    <a:pt x="2180029" y="696563"/>
                  </a:lnTo>
                  <a:lnTo>
                    <a:pt x="0" y="6965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0029" cy="7346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5322845" y="467885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176024" y="-116963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811573" y="665057"/>
            <a:ext cx="10938051" cy="1773322"/>
            <a:chOff x="0" y="0"/>
            <a:chExt cx="5013443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13443" cy="812800"/>
            </a:xfrm>
            <a:custGeom>
              <a:avLst/>
              <a:gdLst/>
              <a:ahLst/>
              <a:cxnLst/>
              <a:rect l="l" t="t" r="r" b="b"/>
              <a:pathLst>
                <a:path w="5013443" h="812800">
                  <a:moveTo>
                    <a:pt x="501344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013443" y="624840"/>
                  </a:lnTo>
                  <a:lnTo>
                    <a:pt x="5013443" y="0"/>
                  </a:lnTo>
                  <a:close/>
                </a:path>
              </a:pathLst>
            </a:custGeom>
            <a:solidFill>
              <a:srgbClr val="FAE7BC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13443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920096" y="383741"/>
            <a:ext cx="11091589" cy="2126460"/>
            <a:chOff x="0" y="0"/>
            <a:chExt cx="5083817" cy="9746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83817" cy="974660"/>
            </a:xfrm>
            <a:custGeom>
              <a:avLst/>
              <a:gdLst/>
              <a:ahLst/>
              <a:cxnLst/>
              <a:rect l="l" t="t" r="r" b="b"/>
              <a:pathLst>
                <a:path w="5083817" h="974660">
                  <a:moveTo>
                    <a:pt x="5083817" y="0"/>
                  </a:moveTo>
                  <a:lnTo>
                    <a:pt x="0" y="0"/>
                  </a:lnTo>
                  <a:lnTo>
                    <a:pt x="0" y="786700"/>
                  </a:lnTo>
                  <a:lnTo>
                    <a:pt x="157480" y="786700"/>
                  </a:lnTo>
                  <a:lnTo>
                    <a:pt x="157480" y="974660"/>
                  </a:lnTo>
                  <a:lnTo>
                    <a:pt x="463550" y="786700"/>
                  </a:lnTo>
                  <a:lnTo>
                    <a:pt x="5083817" y="786700"/>
                  </a:lnTo>
                  <a:lnTo>
                    <a:pt x="5083817" y="0"/>
                  </a:lnTo>
                  <a:close/>
                </a:path>
              </a:pathLst>
            </a:custGeom>
            <a:solidFill>
              <a:srgbClr val="616060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083817" cy="822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05119" y="496419"/>
            <a:ext cx="11144505" cy="2351441"/>
            <a:chOff x="0" y="0"/>
            <a:chExt cx="3758220" cy="79296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58220" cy="792968"/>
            </a:xfrm>
            <a:custGeom>
              <a:avLst/>
              <a:gdLst/>
              <a:ahLst/>
              <a:cxnLst/>
              <a:rect l="l" t="t" r="r" b="b"/>
              <a:pathLst>
                <a:path w="3758220" h="792968">
                  <a:moveTo>
                    <a:pt x="3758220" y="0"/>
                  </a:moveTo>
                  <a:lnTo>
                    <a:pt x="0" y="0"/>
                  </a:lnTo>
                  <a:lnTo>
                    <a:pt x="0" y="605008"/>
                  </a:lnTo>
                  <a:lnTo>
                    <a:pt x="157480" y="605008"/>
                  </a:lnTo>
                  <a:lnTo>
                    <a:pt x="157480" y="792968"/>
                  </a:lnTo>
                  <a:lnTo>
                    <a:pt x="463550" y="605008"/>
                  </a:lnTo>
                  <a:lnTo>
                    <a:pt x="3758220" y="605008"/>
                  </a:lnTo>
                  <a:lnTo>
                    <a:pt x="37582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758220" cy="64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 flipV="1">
            <a:off x="-5322845" y="-211617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14168515" y="496419"/>
            <a:ext cx="539587" cy="539587"/>
          </a:xfrm>
          <a:custGeom>
            <a:avLst/>
            <a:gdLst/>
            <a:ahLst/>
            <a:cxnLst/>
            <a:rect l="l" t="t" r="r" b="b"/>
            <a:pathLst>
              <a:path w="539587" h="539587">
                <a:moveTo>
                  <a:pt x="0" y="0"/>
                </a:moveTo>
                <a:lnTo>
                  <a:pt x="539587" y="0"/>
                </a:lnTo>
                <a:lnTo>
                  <a:pt x="539587" y="539586"/>
                </a:lnTo>
                <a:lnTo>
                  <a:pt x="0" y="53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585136" y="2937341"/>
            <a:ext cx="3767700" cy="6231196"/>
          </a:xfrm>
          <a:custGeom>
            <a:avLst/>
            <a:gdLst/>
            <a:ahLst/>
            <a:cxnLst/>
            <a:rect l="l" t="t" r="r" b="b"/>
            <a:pathLst>
              <a:path w="3767700" h="6231196">
                <a:moveTo>
                  <a:pt x="0" y="0"/>
                </a:moveTo>
                <a:lnTo>
                  <a:pt x="3767700" y="0"/>
                </a:lnTo>
                <a:lnTo>
                  <a:pt x="3767700" y="6231197"/>
                </a:lnTo>
                <a:lnTo>
                  <a:pt x="0" y="6231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090337" y="3413524"/>
            <a:ext cx="7983716" cy="222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SELECT customer_id, COUNT(*) AS purchase_count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FROM sales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WHERE date &gt;= DATE_SUB(date, INTERVAL 30 DAY)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GROUP BY customer_id</a:t>
            </a:r>
          </a:p>
          <a:p>
            <a:pPr algn="l">
              <a:lnSpc>
                <a:spcPts val="3548"/>
              </a:lnSpc>
            </a:pPr>
            <a:r>
              <a:rPr lang="en-US" sz="2534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HAVING purchase_count &gt; 1;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33346" y="655532"/>
            <a:ext cx="1109450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4430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8. IDENTIFYING REPEAT CUSTOMERS</a:t>
            </a:r>
          </a:p>
          <a:p>
            <a:pPr algn="ctr">
              <a:lnSpc>
                <a:spcPts val="5317"/>
              </a:lnSpc>
            </a:pPr>
            <a:r>
              <a:rPr lang="en-US" sz="4430" b="1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 LAST 30 DAYS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90337" y="6456814"/>
            <a:ext cx="7983716" cy="17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7261" lvl="1" indent="-273631" algn="l">
              <a:lnSpc>
                <a:spcPts val="3548"/>
              </a:lnSpc>
              <a:buFont typeface="Arial"/>
              <a:buChar char="•"/>
            </a:pPr>
            <a:r>
              <a:rPr lang="en-US" sz="253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100% of customers made repeat purchases within 30 days.</a:t>
            </a:r>
          </a:p>
          <a:p>
            <a:pPr algn="l">
              <a:lnSpc>
                <a:spcPts val="3548"/>
              </a:lnSpc>
            </a:pPr>
            <a:endParaRPr lang="en-US" sz="2534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3548"/>
              </a:lnSpc>
            </a:pPr>
            <a:endParaRPr lang="en-US" sz="2534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2943547" y="6180589"/>
            <a:ext cx="8277297" cy="1539287"/>
            <a:chOff x="0" y="0"/>
            <a:chExt cx="2180029" cy="4054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80029" cy="405409"/>
            </a:xfrm>
            <a:custGeom>
              <a:avLst/>
              <a:gdLst/>
              <a:ahLst/>
              <a:cxnLst/>
              <a:rect l="l" t="t" r="r" b="b"/>
              <a:pathLst>
                <a:path w="2180029" h="405409">
                  <a:moveTo>
                    <a:pt x="0" y="0"/>
                  </a:moveTo>
                  <a:lnTo>
                    <a:pt x="2180029" y="0"/>
                  </a:lnTo>
                  <a:lnTo>
                    <a:pt x="2180029" y="405409"/>
                  </a:lnTo>
                  <a:lnTo>
                    <a:pt x="0" y="4054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180029" cy="4435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43547" y="3191844"/>
            <a:ext cx="8277297" cy="2644761"/>
            <a:chOff x="0" y="0"/>
            <a:chExt cx="2180029" cy="6965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0029" cy="696563"/>
            </a:xfrm>
            <a:custGeom>
              <a:avLst/>
              <a:gdLst/>
              <a:ahLst/>
              <a:cxnLst/>
              <a:rect l="l" t="t" r="r" b="b"/>
              <a:pathLst>
                <a:path w="2180029" h="696563">
                  <a:moveTo>
                    <a:pt x="0" y="0"/>
                  </a:moveTo>
                  <a:lnTo>
                    <a:pt x="2180029" y="0"/>
                  </a:lnTo>
                  <a:lnTo>
                    <a:pt x="2180029" y="696563"/>
                  </a:lnTo>
                  <a:lnTo>
                    <a:pt x="0" y="6965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80029" cy="725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5322845" y="467885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176024" y="-116963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811573" y="665057"/>
            <a:ext cx="10938051" cy="1773322"/>
            <a:chOff x="0" y="0"/>
            <a:chExt cx="5013443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13443" cy="812800"/>
            </a:xfrm>
            <a:custGeom>
              <a:avLst/>
              <a:gdLst/>
              <a:ahLst/>
              <a:cxnLst/>
              <a:rect l="l" t="t" r="r" b="b"/>
              <a:pathLst>
                <a:path w="5013443" h="812800">
                  <a:moveTo>
                    <a:pt x="501344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013443" y="624840"/>
                  </a:lnTo>
                  <a:lnTo>
                    <a:pt x="5013443" y="0"/>
                  </a:lnTo>
                  <a:close/>
                </a:path>
              </a:pathLst>
            </a:custGeom>
            <a:solidFill>
              <a:srgbClr val="FFF4EA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5013443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920096" y="383741"/>
            <a:ext cx="11091589" cy="2126460"/>
            <a:chOff x="0" y="0"/>
            <a:chExt cx="5083817" cy="9746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83817" cy="974660"/>
            </a:xfrm>
            <a:custGeom>
              <a:avLst/>
              <a:gdLst/>
              <a:ahLst/>
              <a:cxnLst/>
              <a:rect l="l" t="t" r="r" b="b"/>
              <a:pathLst>
                <a:path w="5083817" h="974660">
                  <a:moveTo>
                    <a:pt x="5083817" y="0"/>
                  </a:moveTo>
                  <a:lnTo>
                    <a:pt x="0" y="0"/>
                  </a:lnTo>
                  <a:lnTo>
                    <a:pt x="0" y="786700"/>
                  </a:lnTo>
                  <a:lnTo>
                    <a:pt x="157480" y="786700"/>
                  </a:lnTo>
                  <a:lnTo>
                    <a:pt x="157480" y="974660"/>
                  </a:lnTo>
                  <a:lnTo>
                    <a:pt x="463550" y="786700"/>
                  </a:lnTo>
                  <a:lnTo>
                    <a:pt x="5083817" y="786700"/>
                  </a:lnTo>
                  <a:lnTo>
                    <a:pt x="5083817" y="0"/>
                  </a:lnTo>
                  <a:close/>
                </a:path>
              </a:pathLst>
            </a:custGeom>
            <a:solidFill>
              <a:srgbClr val="FFD964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5083817" cy="812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05119" y="496419"/>
            <a:ext cx="11144505" cy="2351441"/>
            <a:chOff x="0" y="0"/>
            <a:chExt cx="3758220" cy="79296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58220" cy="792968"/>
            </a:xfrm>
            <a:custGeom>
              <a:avLst/>
              <a:gdLst/>
              <a:ahLst/>
              <a:cxnLst/>
              <a:rect l="l" t="t" r="r" b="b"/>
              <a:pathLst>
                <a:path w="3758220" h="792968">
                  <a:moveTo>
                    <a:pt x="3758220" y="0"/>
                  </a:moveTo>
                  <a:lnTo>
                    <a:pt x="0" y="0"/>
                  </a:lnTo>
                  <a:lnTo>
                    <a:pt x="0" y="605008"/>
                  </a:lnTo>
                  <a:lnTo>
                    <a:pt x="157480" y="605008"/>
                  </a:lnTo>
                  <a:lnTo>
                    <a:pt x="157480" y="792968"/>
                  </a:lnTo>
                  <a:lnTo>
                    <a:pt x="463550" y="605008"/>
                  </a:lnTo>
                  <a:lnTo>
                    <a:pt x="3758220" y="605008"/>
                  </a:lnTo>
                  <a:lnTo>
                    <a:pt x="37582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3758220" cy="631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 flipV="1">
            <a:off x="-5322845" y="-211617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14168515" y="496419"/>
            <a:ext cx="539587" cy="539587"/>
          </a:xfrm>
          <a:custGeom>
            <a:avLst/>
            <a:gdLst/>
            <a:ahLst/>
            <a:cxnLst/>
            <a:rect l="l" t="t" r="r" b="b"/>
            <a:pathLst>
              <a:path w="539587" h="539587">
                <a:moveTo>
                  <a:pt x="0" y="0"/>
                </a:moveTo>
                <a:lnTo>
                  <a:pt x="539587" y="0"/>
                </a:lnTo>
                <a:lnTo>
                  <a:pt x="539587" y="539586"/>
                </a:lnTo>
                <a:lnTo>
                  <a:pt x="0" y="53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234159" y="6004330"/>
            <a:ext cx="4839894" cy="3460586"/>
          </a:xfrm>
          <a:custGeom>
            <a:avLst/>
            <a:gdLst/>
            <a:ahLst/>
            <a:cxnLst/>
            <a:rect l="l" t="t" r="r" b="b"/>
            <a:pathLst>
              <a:path w="4839894" h="3460586">
                <a:moveTo>
                  <a:pt x="0" y="0"/>
                </a:moveTo>
                <a:lnTo>
                  <a:pt x="4839894" y="0"/>
                </a:lnTo>
                <a:lnTo>
                  <a:pt x="4839894" y="3460586"/>
                </a:lnTo>
                <a:lnTo>
                  <a:pt x="0" y="3460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090337" y="3403999"/>
            <a:ext cx="7983716" cy="223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372A28"/>
                </a:solidFill>
                <a:latin typeface="Arbutus Slab"/>
                <a:ea typeface="Arbutus Slab"/>
                <a:cs typeface="Arbutus Slab"/>
                <a:sym typeface="Arbutus Slab"/>
              </a:rPr>
              <a:t>SELECT customer_id, SUM(total) AS total_sales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372A28"/>
                </a:solidFill>
                <a:latin typeface="Arbutus Slab"/>
                <a:ea typeface="Arbutus Slab"/>
                <a:cs typeface="Arbutus Slab"/>
                <a:sym typeface="Arbutus Slab"/>
              </a:rPr>
              <a:t>FROM sales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372A28"/>
                </a:solidFill>
                <a:latin typeface="Arbutus Slab"/>
                <a:ea typeface="Arbutus Slab"/>
                <a:cs typeface="Arbutus Slab"/>
                <a:sym typeface="Arbutus Slab"/>
              </a:rPr>
              <a:t>GROUP BY customer_id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372A28"/>
                </a:solidFill>
                <a:latin typeface="Arbutus Slab"/>
                <a:ea typeface="Arbutus Slab"/>
                <a:cs typeface="Arbutus Slab"/>
                <a:sym typeface="Arbutus Slab"/>
              </a:rPr>
              <a:t>ORDER BY total_sales DESC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372A28"/>
                </a:solidFill>
                <a:latin typeface="Arbutus Slab"/>
                <a:ea typeface="Arbutus Slab"/>
                <a:cs typeface="Arbutus Slab"/>
                <a:sym typeface="Arbutus Slab"/>
              </a:rPr>
              <a:t>LIMIT 5;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33346" y="655532"/>
            <a:ext cx="1109450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4430" b="1" spc="443">
                <a:solidFill>
                  <a:srgbClr val="372A28"/>
                </a:solidFill>
                <a:latin typeface="Barlow Bold"/>
                <a:ea typeface="Barlow Bold"/>
                <a:cs typeface="Barlow Bold"/>
                <a:sym typeface="Barlow Bold"/>
              </a:rPr>
              <a:t>9.Top 5 Customers </a:t>
            </a:r>
          </a:p>
          <a:p>
            <a:pPr algn="ctr">
              <a:lnSpc>
                <a:spcPts val="5317"/>
              </a:lnSpc>
            </a:pPr>
            <a:r>
              <a:rPr lang="en-US" sz="4430" b="1" spc="443">
                <a:solidFill>
                  <a:srgbClr val="372A28"/>
                </a:solidFill>
                <a:latin typeface="Barlow Bold"/>
                <a:ea typeface="Barlow Bold"/>
                <a:cs typeface="Barlow Bold"/>
                <a:sym typeface="Barlow Bold"/>
              </a:rPr>
              <a:t>by Sales Volume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0947" y="2536900"/>
            <a:ext cx="7173297" cy="78593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7289" y="2847859"/>
            <a:ext cx="7263945" cy="2988746"/>
            <a:chOff x="0" y="0"/>
            <a:chExt cx="1913138" cy="787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138" cy="787159"/>
            </a:xfrm>
            <a:custGeom>
              <a:avLst/>
              <a:gdLst/>
              <a:ahLst/>
              <a:cxnLst/>
              <a:rect l="l" t="t" r="r" b="b"/>
              <a:pathLst>
                <a:path w="1913138" h="787159">
                  <a:moveTo>
                    <a:pt x="0" y="0"/>
                  </a:moveTo>
                  <a:lnTo>
                    <a:pt x="1913138" y="0"/>
                  </a:lnTo>
                  <a:lnTo>
                    <a:pt x="1913138" y="787159"/>
                  </a:lnTo>
                  <a:lnTo>
                    <a:pt x="0" y="7871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13138" cy="834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5322845" y="467885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176024" y="-1169632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811573" y="665057"/>
            <a:ext cx="10938051" cy="1773322"/>
            <a:chOff x="0" y="0"/>
            <a:chExt cx="5013443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13443" cy="812800"/>
            </a:xfrm>
            <a:custGeom>
              <a:avLst/>
              <a:gdLst/>
              <a:ahLst/>
              <a:cxnLst/>
              <a:rect l="l" t="t" r="r" b="b"/>
              <a:pathLst>
                <a:path w="5013443" h="812800">
                  <a:moveTo>
                    <a:pt x="5013443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5013443" y="624840"/>
                  </a:lnTo>
                  <a:lnTo>
                    <a:pt x="5013443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013443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920096" y="383741"/>
            <a:ext cx="11091589" cy="2126460"/>
            <a:chOff x="0" y="0"/>
            <a:chExt cx="5083817" cy="9746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83817" cy="974660"/>
            </a:xfrm>
            <a:custGeom>
              <a:avLst/>
              <a:gdLst/>
              <a:ahLst/>
              <a:cxnLst/>
              <a:rect l="l" t="t" r="r" b="b"/>
              <a:pathLst>
                <a:path w="5083817" h="974660">
                  <a:moveTo>
                    <a:pt x="5083817" y="0"/>
                  </a:moveTo>
                  <a:lnTo>
                    <a:pt x="0" y="0"/>
                  </a:lnTo>
                  <a:lnTo>
                    <a:pt x="0" y="786700"/>
                  </a:lnTo>
                  <a:lnTo>
                    <a:pt x="157480" y="786700"/>
                  </a:lnTo>
                  <a:lnTo>
                    <a:pt x="157480" y="974660"/>
                  </a:lnTo>
                  <a:lnTo>
                    <a:pt x="463550" y="786700"/>
                  </a:lnTo>
                  <a:lnTo>
                    <a:pt x="5083817" y="786700"/>
                  </a:lnTo>
                  <a:lnTo>
                    <a:pt x="5083817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083817" cy="831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05119" y="496419"/>
            <a:ext cx="11144505" cy="2351441"/>
            <a:chOff x="0" y="0"/>
            <a:chExt cx="3758220" cy="79296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58220" cy="792968"/>
            </a:xfrm>
            <a:custGeom>
              <a:avLst/>
              <a:gdLst/>
              <a:ahLst/>
              <a:cxnLst/>
              <a:rect l="l" t="t" r="r" b="b"/>
              <a:pathLst>
                <a:path w="3758220" h="792968">
                  <a:moveTo>
                    <a:pt x="3758220" y="0"/>
                  </a:moveTo>
                  <a:lnTo>
                    <a:pt x="0" y="0"/>
                  </a:lnTo>
                  <a:lnTo>
                    <a:pt x="0" y="605008"/>
                  </a:lnTo>
                  <a:lnTo>
                    <a:pt x="157480" y="605008"/>
                  </a:lnTo>
                  <a:lnTo>
                    <a:pt x="157480" y="792968"/>
                  </a:lnTo>
                  <a:lnTo>
                    <a:pt x="463550" y="605008"/>
                  </a:lnTo>
                  <a:lnTo>
                    <a:pt x="3758220" y="605008"/>
                  </a:lnTo>
                  <a:lnTo>
                    <a:pt x="37582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3758220" cy="650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 flipV="1">
            <a:off x="-5322845" y="-2116174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14168515" y="496419"/>
            <a:ext cx="539587" cy="539587"/>
          </a:xfrm>
          <a:custGeom>
            <a:avLst/>
            <a:gdLst/>
            <a:ahLst/>
            <a:cxnLst/>
            <a:rect l="l" t="t" r="r" b="b"/>
            <a:pathLst>
              <a:path w="539587" h="539587">
                <a:moveTo>
                  <a:pt x="0" y="0"/>
                </a:moveTo>
                <a:lnTo>
                  <a:pt x="539587" y="0"/>
                </a:lnTo>
                <a:lnTo>
                  <a:pt x="539587" y="539586"/>
                </a:lnTo>
                <a:lnTo>
                  <a:pt x="0" y="539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166650" y="6046155"/>
            <a:ext cx="3977350" cy="3593065"/>
          </a:xfrm>
          <a:custGeom>
            <a:avLst/>
            <a:gdLst/>
            <a:ahLst/>
            <a:cxnLst/>
            <a:rect l="l" t="t" r="r" b="b"/>
            <a:pathLst>
              <a:path w="3977350" h="3593065">
                <a:moveTo>
                  <a:pt x="0" y="0"/>
                </a:moveTo>
                <a:lnTo>
                  <a:pt x="3977350" y="0"/>
                </a:lnTo>
                <a:lnTo>
                  <a:pt x="3977350" y="3593065"/>
                </a:lnTo>
                <a:lnTo>
                  <a:pt x="0" y="3593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966046" y="1215959"/>
            <a:ext cx="1749486" cy="919275"/>
          </a:xfrm>
          <a:custGeom>
            <a:avLst/>
            <a:gdLst/>
            <a:ahLst/>
            <a:cxnLst/>
            <a:rect l="l" t="t" r="r" b="b"/>
            <a:pathLst>
              <a:path w="1749486" h="919275">
                <a:moveTo>
                  <a:pt x="0" y="0"/>
                </a:moveTo>
                <a:lnTo>
                  <a:pt x="1749486" y="0"/>
                </a:lnTo>
                <a:lnTo>
                  <a:pt x="1749486" y="919275"/>
                </a:lnTo>
                <a:lnTo>
                  <a:pt x="0" y="9192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369901" y="3006094"/>
            <a:ext cx="6774099" cy="2669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SELECT 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DAYNAME(date) AS day_of_week, 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SUM(total) AS total_sales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FROM sales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GROUP BY day_of_week</a:t>
            </a:r>
          </a:p>
          <a:p>
            <a:pPr algn="l">
              <a:lnSpc>
                <a:spcPts val="3548"/>
              </a:lnSpc>
            </a:pPr>
            <a:r>
              <a:rPr lang="en-US" sz="2534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ORDER BY total_sales DESC;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33346" y="655532"/>
            <a:ext cx="11094505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7"/>
              </a:lnSpc>
            </a:pPr>
            <a:r>
              <a:rPr lang="en-US" sz="443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10. : Analyzing Sales Trends </a:t>
            </a:r>
          </a:p>
          <a:p>
            <a:pPr algn="ctr">
              <a:lnSpc>
                <a:spcPts val="5317"/>
              </a:lnSpc>
            </a:pPr>
            <a:r>
              <a:rPr lang="en-US" sz="443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 Day of the Week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0932" y="2040640"/>
            <a:ext cx="8536471" cy="76169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3798185" y="2157242"/>
            <a:ext cx="10809749" cy="7937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🏆 Top Growth Branch</a:t>
            </a:r>
          </a:p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✅ Branch A leads with a 📈 26.11% sales growth rate.</a:t>
            </a:r>
          </a:p>
          <a:p>
            <a:pPr algn="l">
              <a:lnSpc>
                <a:spcPts val="4326"/>
              </a:lnSpc>
            </a:pPr>
            <a:endParaRPr lang="en-US" sz="3090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💰 Most Profitable Product Lines (by Branch)</a:t>
            </a:r>
          </a:p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🔹 Branch A – Home &amp; Lifestyle (₹22,417)</a:t>
            </a:r>
          </a:p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🔹 Branch B – Sports &amp; Travel (₹19,988)</a:t>
            </a:r>
          </a:p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🔹 Branch C – Food &amp; Beverages (₹23,766)</a:t>
            </a:r>
          </a:p>
          <a:p>
            <a:pPr algn="l">
              <a:lnSpc>
                <a:spcPts val="4326"/>
              </a:lnSpc>
            </a:pPr>
            <a:endParaRPr lang="en-US" sz="3090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👑 High-Value Customers</a:t>
            </a:r>
          </a:p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✅ Customer ID 12 has the highest average spend of ₹329.1.</a:t>
            </a:r>
          </a:p>
          <a:p>
            <a:pPr algn="l">
              <a:lnSpc>
                <a:spcPts val="4326"/>
              </a:lnSpc>
            </a:pPr>
            <a:endParaRPr lang="en-US" sz="3090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⚠️ Sales Anomalies</a:t>
            </a:r>
          </a:p>
          <a:p>
            <a:pPr algn="l">
              <a:lnSpc>
                <a:spcPts val="4326"/>
              </a:lnSpc>
            </a:pPr>
            <a:r>
              <a:rPr lang="en-US" sz="3090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✅ Identified unusually high &amp; low transactions, indicating potential pricing errors or fraud risks.</a:t>
            </a:r>
          </a:p>
          <a:p>
            <a:pPr algn="l">
              <a:lnSpc>
                <a:spcPts val="2646"/>
              </a:lnSpc>
            </a:pPr>
            <a:endParaRPr lang="en-US" sz="3090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3829156" y="557842"/>
            <a:ext cx="10362960" cy="1174523"/>
            <a:chOff x="0" y="0"/>
            <a:chExt cx="4749851" cy="5383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49851" cy="538341"/>
            </a:xfrm>
            <a:custGeom>
              <a:avLst/>
              <a:gdLst/>
              <a:ahLst/>
              <a:cxnLst/>
              <a:rect l="l" t="t" r="r" b="b"/>
              <a:pathLst>
                <a:path w="4749851" h="538341">
                  <a:moveTo>
                    <a:pt x="4749851" y="0"/>
                  </a:moveTo>
                  <a:lnTo>
                    <a:pt x="0" y="0"/>
                  </a:lnTo>
                  <a:lnTo>
                    <a:pt x="0" y="350381"/>
                  </a:lnTo>
                  <a:lnTo>
                    <a:pt x="157480" y="350381"/>
                  </a:lnTo>
                  <a:lnTo>
                    <a:pt x="157480" y="538341"/>
                  </a:lnTo>
                  <a:lnTo>
                    <a:pt x="463550" y="350381"/>
                  </a:lnTo>
                  <a:lnTo>
                    <a:pt x="4749851" y="350381"/>
                  </a:lnTo>
                  <a:lnTo>
                    <a:pt x="4749851" y="0"/>
                  </a:lnTo>
                  <a:close/>
                </a:path>
              </a:pathLst>
            </a:custGeom>
            <a:solidFill>
              <a:srgbClr val="B0F0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749851" cy="395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80067" y="435091"/>
            <a:ext cx="10666852" cy="1505782"/>
            <a:chOff x="0" y="0"/>
            <a:chExt cx="4180592" cy="5901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80592" cy="590152"/>
            </a:xfrm>
            <a:custGeom>
              <a:avLst/>
              <a:gdLst/>
              <a:ahLst/>
              <a:cxnLst/>
              <a:rect l="l" t="t" r="r" b="b"/>
              <a:pathLst>
                <a:path w="4180592" h="590152">
                  <a:moveTo>
                    <a:pt x="4180592" y="0"/>
                  </a:moveTo>
                  <a:lnTo>
                    <a:pt x="0" y="0"/>
                  </a:lnTo>
                  <a:lnTo>
                    <a:pt x="0" y="402192"/>
                  </a:lnTo>
                  <a:lnTo>
                    <a:pt x="157480" y="402192"/>
                  </a:lnTo>
                  <a:lnTo>
                    <a:pt x="157480" y="590152"/>
                  </a:lnTo>
                  <a:lnTo>
                    <a:pt x="463550" y="402192"/>
                  </a:lnTo>
                  <a:lnTo>
                    <a:pt x="4180592" y="402192"/>
                  </a:lnTo>
                  <a:lnTo>
                    <a:pt x="41805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180592" cy="447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180192" y="676827"/>
            <a:ext cx="9344171" cy="762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Sales Performance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91816" y="4789990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3" y="0"/>
                </a:lnTo>
                <a:lnTo>
                  <a:pt x="7360133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5219897" y="-218702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2814627" y="2013229"/>
            <a:ext cx="14973092" cy="8312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💳 Most Popular Payment Method</a:t>
            </a: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✅ E-Wallets dominate in Mandalay with 133 transactions.</a:t>
            </a:r>
          </a:p>
          <a:p>
            <a:pPr algn="l">
              <a:lnSpc>
                <a:spcPts val="3540"/>
              </a:lnSpc>
            </a:pPr>
            <a:endParaRPr lang="en-US" sz="2528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📆 Monthly Sales by Gender</a:t>
            </a: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✅ Clear male vs. female spending trends – visualized through charts &amp; insights.</a:t>
            </a:r>
          </a:p>
          <a:p>
            <a:pPr algn="l">
              <a:lnSpc>
                <a:spcPts val="3540"/>
              </a:lnSpc>
            </a:pPr>
            <a:endParaRPr lang="en-US" sz="2528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🛍️ Best Product Line (by Customer Type)</a:t>
            </a: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✅ Normal Customers prefer Food &amp; Beverages the most.</a:t>
            </a:r>
          </a:p>
          <a:p>
            <a:pPr algn="l">
              <a:lnSpc>
                <a:spcPts val="3540"/>
              </a:lnSpc>
            </a:pPr>
            <a:endParaRPr lang="en-US" sz="2528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🔄 Repeat Customers</a:t>
            </a: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✅ 100% customer retention within 30 days – strong loyalty but a need for new customer acquisition.</a:t>
            </a:r>
          </a:p>
          <a:p>
            <a:pPr algn="l">
              <a:lnSpc>
                <a:spcPts val="3540"/>
              </a:lnSpc>
            </a:pPr>
            <a:endParaRPr lang="en-US" sz="2528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🏅 Top 5 Customers by Sales Volume</a:t>
            </a: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1️⃣ Customer ID 8 – ₹26,634</a:t>
            </a: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2️⃣ Customer ID 3 – ₹23,402</a:t>
            </a: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3️⃣ Customer ID 2 – ₹23,392</a:t>
            </a:r>
          </a:p>
          <a:p>
            <a:pPr algn="l">
              <a:lnSpc>
                <a:spcPts val="3540"/>
              </a:lnSpc>
            </a:pPr>
            <a:r>
              <a:rPr lang="en-US" sz="2528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4️⃣ Customer ID 15 – ₹22,674</a:t>
            </a:r>
          </a:p>
          <a:p>
            <a:pPr algn="l">
              <a:lnSpc>
                <a:spcPts val="3627"/>
              </a:lnSpc>
            </a:pPr>
            <a:r>
              <a:rPr lang="en-US" sz="259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5️⃣ Customer ID 1 – ₹22,634</a:t>
            </a:r>
          </a:p>
          <a:p>
            <a:pPr algn="l">
              <a:lnSpc>
                <a:spcPts val="1947"/>
              </a:lnSpc>
            </a:pPr>
            <a:endParaRPr lang="en-US" sz="259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3829156" y="557842"/>
            <a:ext cx="10362960" cy="1174523"/>
            <a:chOff x="0" y="0"/>
            <a:chExt cx="4749851" cy="5383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49851" cy="538341"/>
            </a:xfrm>
            <a:custGeom>
              <a:avLst/>
              <a:gdLst/>
              <a:ahLst/>
              <a:cxnLst/>
              <a:rect l="l" t="t" r="r" b="b"/>
              <a:pathLst>
                <a:path w="4749851" h="538341">
                  <a:moveTo>
                    <a:pt x="4749851" y="0"/>
                  </a:moveTo>
                  <a:lnTo>
                    <a:pt x="0" y="0"/>
                  </a:lnTo>
                  <a:lnTo>
                    <a:pt x="0" y="350381"/>
                  </a:lnTo>
                  <a:lnTo>
                    <a:pt x="157480" y="350381"/>
                  </a:lnTo>
                  <a:lnTo>
                    <a:pt x="157480" y="538341"/>
                  </a:lnTo>
                  <a:lnTo>
                    <a:pt x="463550" y="350381"/>
                  </a:lnTo>
                  <a:lnTo>
                    <a:pt x="4749851" y="350381"/>
                  </a:lnTo>
                  <a:lnTo>
                    <a:pt x="4749851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749851" cy="395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80067" y="435091"/>
            <a:ext cx="10666852" cy="1505782"/>
            <a:chOff x="0" y="0"/>
            <a:chExt cx="4180592" cy="5901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80592" cy="590152"/>
            </a:xfrm>
            <a:custGeom>
              <a:avLst/>
              <a:gdLst/>
              <a:ahLst/>
              <a:cxnLst/>
              <a:rect l="l" t="t" r="r" b="b"/>
              <a:pathLst>
                <a:path w="4180592" h="590152">
                  <a:moveTo>
                    <a:pt x="4180592" y="0"/>
                  </a:moveTo>
                  <a:lnTo>
                    <a:pt x="0" y="0"/>
                  </a:lnTo>
                  <a:lnTo>
                    <a:pt x="0" y="402192"/>
                  </a:lnTo>
                  <a:lnTo>
                    <a:pt x="157480" y="402192"/>
                  </a:lnTo>
                  <a:lnTo>
                    <a:pt x="157480" y="590152"/>
                  </a:lnTo>
                  <a:lnTo>
                    <a:pt x="463550" y="402192"/>
                  </a:lnTo>
                  <a:lnTo>
                    <a:pt x="4180592" y="402192"/>
                  </a:lnTo>
                  <a:lnTo>
                    <a:pt x="418059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180592" cy="447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180192" y="695877"/>
            <a:ext cx="9344171" cy="65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3"/>
              </a:lnSpc>
            </a:pPr>
            <a:r>
              <a:rPr lang="en-US" sz="436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&amp; PAYMENT TRENDS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4370582" y="3827514"/>
            <a:ext cx="11619538" cy="4556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📌 Boost marketing &amp; promotions on Saturdays to</a:t>
            </a:r>
          </a:p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maximize revenue.</a:t>
            </a:r>
          </a:p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📌 Prioritize Home &amp; Lifestyle products in Branch A for  </a:t>
            </a:r>
          </a:p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higher profitability.</a:t>
            </a:r>
          </a:p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📌 Offer loyalty rewards &amp; exclusive deals to top</a:t>
            </a:r>
          </a:p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customers to increase retention.</a:t>
            </a:r>
          </a:p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📌 Enhance digital payment campaigns, as e-wallets are</a:t>
            </a:r>
          </a:p>
          <a:p>
            <a:pPr algn="l">
              <a:lnSpc>
                <a:spcPts val="4523"/>
              </a:lnSpc>
            </a:pPr>
            <a:r>
              <a:rPr lang="en-US" sz="3231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the preferred payment method.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021566" y="1558017"/>
            <a:ext cx="5994124" cy="1773322"/>
            <a:chOff x="0" y="0"/>
            <a:chExt cx="27474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63750" y="1700201"/>
            <a:ext cx="5994124" cy="1773322"/>
            <a:chOff x="0" y="0"/>
            <a:chExt cx="2747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130126" y="2060854"/>
            <a:ext cx="6027748" cy="57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7"/>
              </a:lnSpc>
            </a:pPr>
            <a:r>
              <a:rPr lang="en-US" sz="373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Recommendations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4751838" y="4153209"/>
            <a:ext cx="8784324" cy="126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12"/>
              </a:lnSpc>
              <a:spcBef>
                <a:spcPct val="0"/>
              </a:spcBef>
            </a:pPr>
            <a:r>
              <a:rPr lang="en-US" sz="8344" b="1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89181" y="5411320"/>
            <a:ext cx="5109638" cy="74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 Mandeep Sharma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0067" y="1019175"/>
            <a:ext cx="9856095" cy="4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26"/>
              </a:lnSpc>
              <a:spcBef>
                <a:spcPct val="0"/>
              </a:spcBef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That was Walmart Analysis using Sql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41804" y="8775675"/>
            <a:ext cx="6204392" cy="48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mandeep04sharma@gmail.com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94428" y="9248775"/>
            <a:ext cx="6204392" cy="47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+91 99965 95342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F6439C-FD52-7CD3-37C9-21D9183A995B}"/>
              </a:ext>
            </a:extLst>
          </p:cNvPr>
          <p:cNvSpPr txBox="1"/>
          <p:nvPr/>
        </p:nvSpPr>
        <p:spPr>
          <a:xfrm>
            <a:off x="5791200" y="6029979"/>
            <a:ext cx="6204392" cy="435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2400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  <a:hlinkClick r:id="rId4"/>
              </a:rPr>
              <a:t>Video Presentation Link</a:t>
            </a:r>
            <a:endParaRPr lang="en-US" sz="2400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1115</Words>
  <Application>Microsoft Office PowerPoint</Application>
  <PresentationFormat>Custom</PresentationFormat>
  <Paragraphs>173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Century Gothic Paneuropean Bold</vt:lpstr>
      <vt:lpstr>Calibri</vt:lpstr>
      <vt:lpstr>Century Gothic Paneuropean</vt:lpstr>
      <vt:lpstr>Arial Unicode Bold</vt:lpstr>
      <vt:lpstr>Barlow Bold</vt:lpstr>
      <vt:lpstr>League Spartan</vt:lpstr>
      <vt:lpstr>DG Jory</vt:lpstr>
      <vt:lpstr>Arial</vt:lpstr>
      <vt:lpstr>Arbutus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slaes Analysis_SQL</dc:title>
  <dc:creator>mandeep sharma</dc:creator>
  <cp:lastModifiedBy>mandeep sharma</cp:lastModifiedBy>
  <cp:revision>2</cp:revision>
  <dcterms:created xsi:type="dcterms:W3CDTF">2006-08-16T00:00:00Z</dcterms:created>
  <dcterms:modified xsi:type="dcterms:W3CDTF">2025-03-04T10:42:04Z</dcterms:modified>
  <dc:identifier>DAGOfQugWfU</dc:identifier>
</cp:coreProperties>
</file>